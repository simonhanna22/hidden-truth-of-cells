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5201563" cy="35999738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9">
          <p15:clr>
            <a:srgbClr val="A4A3A4"/>
          </p15:clr>
        </p15:guide>
        <p15:guide id="2" orient="horz" pos="22086">
          <p15:clr>
            <a:srgbClr val="A4A3A4"/>
          </p15:clr>
        </p15:guide>
        <p15:guide id="3" orient="horz" pos="2349">
          <p15:clr>
            <a:srgbClr val="A4A3A4"/>
          </p15:clr>
        </p15:guide>
        <p15:guide id="4" pos="7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0046D2"/>
    <a:srgbClr val="FF0000"/>
    <a:srgbClr val="698ED9"/>
    <a:srgbClr val="A7C4FF"/>
    <a:srgbClr val="003064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F50C76-3026-444F-81B2-9CC3BE465F20}" v="7" dt="2023-10-15T20:05:0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2160" y="-2837"/>
      </p:cViewPr>
      <p:guideLst>
        <p:guide orient="horz" pos="5289"/>
        <p:guide orient="horz" pos="22086"/>
        <p:guide orient="horz" pos="2349"/>
        <p:guide pos="7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4713" y="692150"/>
            <a:ext cx="2427287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BF2D407-7488-4806-B042-2CE959A140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451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32FB4B-BF18-4E6F-9FD7-11EF81A610E2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1183938"/>
            <a:ext cx="21420137" cy="7715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399375"/>
            <a:ext cx="17641887" cy="9201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1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23133050"/>
            <a:ext cx="21421725" cy="715010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725" y="15257463"/>
            <a:ext cx="21421725" cy="78755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3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475" y="8399463"/>
            <a:ext cx="11263313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76188" y="8399463"/>
            <a:ext cx="11264900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002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8058150"/>
            <a:ext cx="11134725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11417300"/>
            <a:ext cx="11134725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600" y="8058150"/>
            <a:ext cx="11139488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600" y="11417300"/>
            <a:ext cx="11139488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39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44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9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33513"/>
            <a:ext cx="8291513" cy="60991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613" y="1433513"/>
            <a:ext cx="14087475" cy="3072447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7532688"/>
            <a:ext cx="8291513" cy="2462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13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300" y="25199975"/>
            <a:ext cx="15120938" cy="2974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40300" y="3216275"/>
            <a:ext cx="15120938" cy="21599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40300" y="28174950"/>
            <a:ext cx="15120938" cy="4224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7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5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2125" y="1441450"/>
            <a:ext cx="5668963" cy="307165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1441450"/>
            <a:ext cx="16859250" cy="307165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23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megaprint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13"/>
            <a:extLst>
              <a:ext uri="{FF2B5EF4-FFF2-40B4-BE49-F238E27FC236}">
                <a16:creationId xmlns:a16="http://schemas.microsoft.com/office/drawing/2014/main" id="{6BFFBEBF-6F96-4D73-87E7-3525B82575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19379372" y="35425506"/>
            <a:ext cx="3255359" cy="167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9C365D95-4213-4FDE-84BF-DFB5A2F65993}"/>
              </a:ext>
            </a:extLst>
          </p:cNvPr>
          <p:cNvSpPr txBox="1"/>
          <p:nvPr userDrawn="1"/>
        </p:nvSpPr>
        <p:spPr>
          <a:xfrm>
            <a:off x="22611872" y="35348670"/>
            <a:ext cx="19756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3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7E6A034-93E0-421C-ACA5-B28573E1673A}"/>
              </a:ext>
            </a:extLst>
          </p:cNvPr>
          <p:cNvSpPr txBox="1"/>
          <p:nvPr userDrawn="1"/>
        </p:nvSpPr>
        <p:spPr>
          <a:xfrm>
            <a:off x="0" y="35876627"/>
            <a:ext cx="461986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200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2pPr>
      <a:lvl3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3pPr>
      <a:lvl4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4pPr>
      <a:lvl5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5pPr>
      <a:lvl6pPr marL="4572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6pPr>
      <a:lvl7pPr marL="9144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7pPr>
      <a:lvl8pPr marL="13716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8pPr>
      <a:lvl9pPr marL="18288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9pPr>
    </p:titleStyle>
    <p:bodyStyle>
      <a:lvl1pPr marL="1311275" indent="-131127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  <a:ea typeface="+mn-ea"/>
          <a:cs typeface="+mn-cs"/>
        </a:defRPr>
      </a:lvl1pPr>
      <a:lvl2pPr marL="2840038" indent="-1092200" algn="l" defTabSz="3497263" rtl="0" eaLnBrk="0" fontAlgn="base" hangingPunct="0">
        <a:spcBef>
          <a:spcPct val="20000"/>
        </a:spcBef>
        <a:spcAft>
          <a:spcPct val="0"/>
        </a:spcAft>
        <a:buChar char="–"/>
        <a:defRPr sz="10700">
          <a:solidFill>
            <a:schemeClr val="tx1"/>
          </a:solidFill>
          <a:latin typeface="+mn-lt"/>
        </a:defRPr>
      </a:lvl2pPr>
      <a:lvl3pPr marL="4370388" indent="-87312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9200">
          <a:solidFill>
            <a:schemeClr val="tx1"/>
          </a:solidFill>
          <a:latin typeface="+mn-lt"/>
        </a:defRPr>
      </a:lvl3pPr>
      <a:lvl4pPr marL="6118225" indent="-873125" algn="l" defTabSz="3497263" rtl="0" eaLnBrk="0" fontAlgn="base" hangingPunct="0">
        <a:spcBef>
          <a:spcPct val="20000"/>
        </a:spcBef>
        <a:spcAft>
          <a:spcPct val="0"/>
        </a:spcAft>
        <a:buChar char="–"/>
        <a:defRPr sz="7600">
          <a:solidFill>
            <a:schemeClr val="tx1"/>
          </a:solidFill>
          <a:latin typeface="+mn-lt"/>
        </a:defRPr>
      </a:lvl4pPr>
      <a:lvl5pPr marL="7867650" indent="-873125" algn="l" defTabSz="3497263" rtl="0" eaLnBrk="0" fontAlgn="base" hangingPunct="0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5pPr>
      <a:lvl6pPr marL="83248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6pPr>
      <a:lvl7pPr marL="87820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7pPr>
      <a:lvl8pPr marL="92392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8pPr>
      <a:lvl9pPr marL="96964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chemeClr val="bg1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50"/>
          <p:cNvSpPr>
            <a:spLocks noChangeArrowheads="1"/>
          </p:cNvSpPr>
          <p:nvPr/>
        </p:nvSpPr>
        <p:spPr bwMode="auto">
          <a:xfrm>
            <a:off x="12849225" y="6697663"/>
            <a:ext cx="11857038" cy="2841625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1" name="AutoShape 4"/>
          <p:cNvSpPr>
            <a:spLocks noChangeArrowheads="1"/>
          </p:cNvSpPr>
          <p:nvPr/>
        </p:nvSpPr>
        <p:spPr bwMode="auto">
          <a:xfrm>
            <a:off x="439737" y="6696076"/>
            <a:ext cx="11857038" cy="28417837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endParaRPr lang="ar-EG" altLang="en-US" sz="3200" b="1"/>
          </a:p>
          <a:p>
            <a:pPr eaLnBrk="1" hangingPunct="1"/>
            <a:r>
              <a:rPr lang="en-US" sz="4000" b="1"/>
              <a:t>Comparison between the Related Studies </a:t>
            </a:r>
            <a:endParaRPr lang="en-US" altLang="en-US" sz="4000" b="1"/>
          </a:p>
          <a:p>
            <a:pPr eaLnBrk="1" hangingPunct="1"/>
            <a:endParaRPr lang="ar-EG" altLang="en-US" sz="2800" b="1"/>
          </a:p>
          <a:p>
            <a:pPr eaLnBrk="1" hangingPunct="1"/>
            <a:endParaRPr lang="ar-EG" altLang="en-US" sz="2800" b="1" dirty="0"/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604838" y="8478608"/>
            <a:ext cx="11434762" cy="6213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800" dirty="0">
                <a:latin typeface="Times New Roman" pitchFamily="18" charset="0"/>
              </a:rPr>
              <a:t>Oral cancer is one of the most common and life-threatening cancers . Early diagnosis is essential for improving patient survival; however, manual histopathological examination is time-consuming and highly dependent on the expertise of pathologists. </a:t>
            </a:r>
            <a:r>
              <a:rPr lang="en-US" altLang="en-US" sz="2800" b="1" dirty="0">
                <a:latin typeface="Times New Roman" pitchFamily="18" charset="0"/>
              </a:rPr>
              <a:t>[1]</a:t>
            </a:r>
          </a:p>
          <a:p>
            <a:pPr algn="l">
              <a:lnSpc>
                <a:spcPct val="95000"/>
              </a:lnSpc>
            </a:pPr>
            <a:endParaRPr lang="en-US" altLang="en-US" sz="2800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rPr lang="en-US" altLang="en-US" sz="2800" dirty="0">
                <a:latin typeface="Times New Roman" pitchFamily="18" charset="0"/>
              </a:rPr>
              <a:t>This project presents an AI-based computer-aided diagnostic system for oral cancer analysis using microscopic histopathological images. The proposed framework combines U-Net segmentation for detecting suspicious tissue regions with deep learning classification models to categorize images into five pathological classes: Normal, OSMF, PDOSCC, WDOSCC, and MDOSCC.</a:t>
            </a:r>
          </a:p>
          <a:p>
            <a:pPr algn="l">
              <a:lnSpc>
                <a:spcPct val="95000"/>
              </a:lnSpc>
            </a:pPr>
            <a:endParaRPr lang="en-US" altLang="en-US" sz="2800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rPr lang="en-US" altLang="en-US" sz="2800" dirty="0">
                <a:latin typeface="Times New Roman" pitchFamily="18" charset="0"/>
              </a:rPr>
              <a:t>By integrating segmentation, classification, and visualization into a user-friendly desktop application, the system aims to improve diagnostic accuracy, reduce subjectivity, and support clinicians in making faster and more reliable decisions.</a:t>
            </a:r>
            <a:endParaRPr lang="en-US" altLang="en-US" sz="2800" b="1" dirty="0">
              <a:latin typeface="Times New Roman" pitchFamily="18" charset="0"/>
            </a:endParaRPr>
          </a:p>
        </p:txBody>
      </p:sp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3368675" y="14735175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Methods</a:t>
            </a:r>
          </a:p>
        </p:txBody>
      </p:sp>
      <p:sp>
        <p:nvSpPr>
          <p:cNvPr id="2054" name="Text Box 11"/>
          <p:cNvSpPr txBox="1">
            <a:spLocks noChangeArrowheads="1"/>
          </p:cNvSpPr>
          <p:nvPr/>
        </p:nvSpPr>
        <p:spPr bwMode="auto">
          <a:xfrm>
            <a:off x="15971625" y="25396398"/>
            <a:ext cx="5645150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Conclusions</a:t>
            </a:r>
          </a:p>
        </p:txBody>
      </p:sp>
      <p:sp>
        <p:nvSpPr>
          <p:cNvPr id="2055" name="AutoShape 13"/>
          <p:cNvSpPr>
            <a:spLocks noChangeArrowheads="1"/>
          </p:cNvSpPr>
          <p:nvPr/>
        </p:nvSpPr>
        <p:spPr bwMode="auto">
          <a:xfrm>
            <a:off x="393700" y="830262"/>
            <a:ext cx="24414163" cy="574992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850" tIns="36425" rIns="72850" bIns="36425" anchor="ctr"/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056" name="Text Box 14"/>
          <p:cNvSpPr txBox="1">
            <a:spLocks noChangeArrowheads="1"/>
          </p:cNvSpPr>
          <p:nvPr/>
        </p:nvSpPr>
        <p:spPr bwMode="auto">
          <a:xfrm>
            <a:off x="831850" y="1458913"/>
            <a:ext cx="23495000" cy="4043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6000" b="1" dirty="0"/>
              <a:t>Hidden Truth of Cells</a:t>
            </a:r>
            <a:r>
              <a:rPr lang="en-US" sz="6000" dirty="0"/>
              <a:t> </a:t>
            </a:r>
          </a:p>
          <a:p>
            <a:r>
              <a:rPr lang="en-US" sz="6000" b="1" dirty="0"/>
              <a:t>Microscopic Detection of Oral Cancer</a:t>
            </a:r>
            <a:endParaRPr lang="en-US" sz="6000" dirty="0"/>
          </a:p>
          <a:p>
            <a:pPr algn="l" eaLnBrk="1" hangingPunct="1"/>
            <a:r>
              <a:rPr lang="en-US" altLang="en-US" sz="4400" b="1" dirty="0"/>
              <a:t>By: </a:t>
            </a:r>
            <a:r>
              <a:rPr lang="en-US" sz="3700" dirty="0"/>
              <a:t>Mariem Naeem, Simon Hanna, Amira Tharwat, Mina Makram, Mina Ashraf, Momen Tarek </a:t>
            </a:r>
            <a:endParaRPr lang="en-US" altLang="en-US" sz="3700" b="1" dirty="0"/>
          </a:p>
          <a:p>
            <a:pPr algn="l" eaLnBrk="1" hangingPunct="1"/>
            <a:r>
              <a:rPr lang="en-US" altLang="en-US" sz="5400" b="1" dirty="0"/>
              <a:t>Supervised by: Dr. </a:t>
            </a:r>
            <a:r>
              <a:rPr lang="en-US" sz="5400" b="1" dirty="0"/>
              <a:t>Maryam Al-berry</a:t>
            </a:r>
            <a:r>
              <a:rPr lang="en-US" altLang="en-US" sz="5400" b="1" dirty="0"/>
              <a:t>, TA. </a:t>
            </a:r>
            <a:r>
              <a:rPr lang="en-US" sz="5400" b="1" dirty="0"/>
              <a:t>Manar Sultan</a:t>
            </a:r>
            <a:endParaRPr lang="en-US" altLang="en-US" sz="5400" b="1" dirty="0"/>
          </a:p>
          <a:p>
            <a:pPr algn="l" eaLnBrk="1" hangingPunct="1"/>
            <a:r>
              <a:rPr lang="en-US" altLang="en-US" sz="4000" b="1" i="1" dirty="0"/>
              <a:t>Faculty of Computer and Information Sciences - Ain Shams University</a:t>
            </a:r>
            <a:endParaRPr lang="en-US" altLang="en-US" sz="7200" dirty="0"/>
          </a:p>
        </p:txBody>
      </p:sp>
      <p:sp>
        <p:nvSpPr>
          <p:cNvPr id="2058" name="Text Box 27"/>
          <p:cNvSpPr txBox="1">
            <a:spLocks noChangeArrowheads="1"/>
          </p:cNvSpPr>
          <p:nvPr/>
        </p:nvSpPr>
        <p:spPr bwMode="auto">
          <a:xfrm>
            <a:off x="16024384" y="30205549"/>
            <a:ext cx="5116194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References</a:t>
            </a:r>
          </a:p>
        </p:txBody>
      </p:sp>
      <p:sp>
        <p:nvSpPr>
          <p:cNvPr id="2059" name="Text Box 36"/>
          <p:cNvSpPr txBox="1">
            <a:spLocks noChangeArrowheads="1"/>
          </p:cNvSpPr>
          <p:nvPr/>
        </p:nvSpPr>
        <p:spPr bwMode="auto">
          <a:xfrm>
            <a:off x="816769" y="16207773"/>
            <a:ext cx="11010900" cy="521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sz="2800" dirty="0"/>
              <a:t>The proposed framework consists of four main stages. Histopathological images from the ORCHID dataset </a:t>
            </a:r>
            <a:r>
              <a:rPr lang="en-US" sz="2800" b="1" dirty="0"/>
              <a:t>[2] </a:t>
            </a:r>
            <a:r>
              <a:rPr lang="en-US" sz="2800" dirty="0"/>
              <a:t>are first processed using a U-Net model to segment the tumor region and remove irrelevant background information. The image is then divided into a 4 × 4 grid (16 patches) to capture fine-grained cellular features. Each patch is classified using </a:t>
            </a:r>
            <a:r>
              <a:rPr lang="en-US" sz="2800" dirty="0" err="1"/>
              <a:t>ConvNeXt</a:t>
            </a:r>
            <a:r>
              <a:rPr lang="en-US" sz="2800" dirty="0"/>
              <a:t> and EfficientNet-B4, and probability fusion is applied to improve the robustness and accuracy of the final prediction. Finally, the patch-level predictions are reconstructed into a color-coded diagnostic map, allowing visualization of lesion locations and classification results. The system classifies oral histopathological images into five categories: Normal, OSMF, WDOSCC, MDOSCC, and PDOSCC.</a:t>
            </a:r>
            <a:endParaRPr lang="ar-E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0" name="Text Box 38"/>
          <p:cNvSpPr txBox="1">
            <a:spLocks noChangeArrowheads="1"/>
          </p:cNvSpPr>
          <p:nvPr/>
        </p:nvSpPr>
        <p:spPr bwMode="auto">
          <a:xfrm>
            <a:off x="13276262" y="31158397"/>
            <a:ext cx="10612437" cy="357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marL="27305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517525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7620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0033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1247775" indent="-274638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17049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1621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26193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0765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endParaRPr lang="en-US" altLang="en-US" sz="2400" b="1" u="sng" dirty="0">
              <a:latin typeface="Times New Roman" pitchFamily="18" charset="0"/>
            </a:endParaRPr>
          </a:p>
          <a:p>
            <a:pPr marL="0" indent="0" algn="l">
              <a:lnSpc>
                <a:spcPct val="9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High-resolution AI image dataset for diagnosing oral submucous fibrosis and squamous cell carcinoma </a:t>
            </a:r>
          </a:p>
          <a:p>
            <a:pPr marL="0" indent="0" algn="l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marL="0" indent="0"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[2]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deep learning ensemble for accurate oral cancer detection using CNNs and metaheuristic tuning</a:t>
            </a:r>
          </a:p>
          <a:p>
            <a:pPr marL="0" indent="0" algn="l">
              <a:lnSpc>
                <a:spcPct val="95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Early Detection of Oral Squamous Cell Carcinoma: A Deep Learning Approach with LRT-Enhanced EfficientNet-B3 for Accurate and Efficient Histopathological Diagnosis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1" name="Text Box 40"/>
          <p:cNvSpPr txBox="1">
            <a:spLocks noChangeArrowheads="1"/>
          </p:cNvSpPr>
          <p:nvPr/>
        </p:nvSpPr>
        <p:spPr bwMode="auto">
          <a:xfrm>
            <a:off x="13171751" y="26696250"/>
            <a:ext cx="11120437" cy="390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A deep learning-based framework for automated oral lesion analysis was developed by integrating U-Net segmentation, patch-based analysis, hierarchical classification, and probability fusion. The proposed system accurately identified suspicious tissue regions and classified lesions into five pathological categories: Normal, OSMF, PDOSCC, MDOSCC, and WDOSCC.</a:t>
            </a:r>
          </a:p>
          <a:p>
            <a:pPr algn="l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Experimental results demonstrated strong performance, achieving a Dice Score of 84.8% for segmentation and 97.3% Accuracy with a 97.4% Macro F1-Score for classification. The proposed framework can support pathologists by improving diagnostic reliability, reducing manual workload, and enabling earlier detection of oral cancer.</a:t>
            </a:r>
          </a:p>
          <a:p>
            <a:pPr algn="l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062" name="Text Box 42"/>
          <p:cNvSpPr txBox="1">
            <a:spLocks noChangeArrowheads="1"/>
          </p:cNvSpPr>
          <p:nvPr/>
        </p:nvSpPr>
        <p:spPr bwMode="auto">
          <a:xfrm>
            <a:off x="3368675" y="7165975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Introduction</a:t>
            </a:r>
          </a:p>
        </p:txBody>
      </p:sp>
      <p:sp>
        <p:nvSpPr>
          <p:cNvPr id="2063" name="Text Box 43"/>
          <p:cNvSpPr txBox="1">
            <a:spLocks noChangeArrowheads="1"/>
          </p:cNvSpPr>
          <p:nvPr/>
        </p:nvSpPr>
        <p:spPr bwMode="auto">
          <a:xfrm>
            <a:off x="15759906" y="7180615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Results</a:t>
            </a:r>
          </a:p>
        </p:txBody>
      </p:sp>
      <p:sp>
        <p:nvSpPr>
          <p:cNvPr id="2065" name="Text Box 19"/>
          <p:cNvSpPr txBox="1">
            <a:spLocks noChangeArrowheads="1"/>
          </p:cNvSpPr>
          <p:nvPr/>
        </p:nvSpPr>
        <p:spPr bwMode="auto">
          <a:xfrm>
            <a:off x="12980142" y="15493714"/>
            <a:ext cx="11726122" cy="784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demonstrated strong performance in both segmentation and classification tasks.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achieved a Dice Score of 84.8%, outperforming Trans U-Net (78.6%). 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l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Tiny (4-Class) achieved 98.6% Accuracy and 98% Macro F1-Score. 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(2-Class) achieved 93% Accuracy for distinguishing MDOSCC and WDOSCC. 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Hierarchical Model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Tiny + EfficientNet-B4) achieved 96.5% Accuracy and 97% Macro F1-Score. </a:t>
            </a:r>
          </a:p>
          <a:p>
            <a:pPr algn="l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Tiny (5-Class) achieved 96.4% Accuracy and 97% Macro F1-Score. 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Probability Fusion Framework achieved the best overall performance with 97.3% Accuracy and 97.4% Macro F1-Score. 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hierarchical classification and direct five-class prediction through probability fusion improved robustness and produced the most reliable diagnostic results. 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9">
            <a:extLst>
              <a:ext uri="{FF2B5EF4-FFF2-40B4-BE49-F238E27FC236}">
                <a16:creationId xmlns:a16="http://schemas.microsoft.com/office/drawing/2014/main" id="{8D53FFB1-D23F-D80B-87BD-F87D4831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5727" y="24844140"/>
            <a:ext cx="4667197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/>
              <a:t>Table 1: Results of Segmentation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357BC45E-4094-98B3-440B-A3A562CD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1432" y="14866998"/>
            <a:ext cx="7521061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/>
              <a:t>Figure </a:t>
            </a:r>
            <a:r>
              <a:rPr lang="ar-EG" altLang="en-US" sz="2400" dirty="0"/>
              <a:t>3</a:t>
            </a:r>
            <a:r>
              <a:rPr lang="en-US" altLang="en-US" sz="2400" dirty="0"/>
              <a:t>. </a:t>
            </a:r>
            <a:r>
              <a:rPr lang="en-US" sz="2400" dirty="0"/>
              <a:t>Oral Cancer Diagnostic Application Interface</a:t>
            </a:r>
            <a:endParaRPr lang="en-US" alt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BCAE8-E908-F27C-C5FD-D605F1D54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669" y="1769020"/>
            <a:ext cx="3513181" cy="320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E25FDD-776B-1520-077A-92E254448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08" y="21704293"/>
            <a:ext cx="11553422" cy="4117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5CBDF-FA83-77BD-774D-DBFCDCFE8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9777" y="8445058"/>
            <a:ext cx="5943600" cy="305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A9A80-5A06-3B5B-A293-0285D6F216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377" y="8237967"/>
            <a:ext cx="5286797" cy="32064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19">
            <a:extLst>
              <a:ext uri="{FF2B5EF4-FFF2-40B4-BE49-F238E27FC236}">
                <a16:creationId xmlns:a16="http://schemas.microsoft.com/office/drawing/2014/main" id="{58E2C764-AA9F-C57B-F5E2-5D4C782E2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945" y="26448879"/>
            <a:ext cx="4187453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/>
              <a:t>Figure 1. System </a:t>
            </a:r>
            <a:r>
              <a:rPr lang="en-US" sz="2400" dirty="0"/>
              <a:t>Architecture</a:t>
            </a:r>
            <a:endParaRPr lang="en-US" alt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D59EE52-F73C-72C3-9342-F0201C155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350225"/>
              </p:ext>
            </p:extLst>
          </p:nvPr>
        </p:nvGraphicFramePr>
        <p:xfrm>
          <a:off x="13158204" y="22924943"/>
          <a:ext cx="4074954" cy="17914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6904">
                  <a:extLst>
                    <a:ext uri="{9D8B030D-6E8A-4147-A177-3AD203B41FA5}">
                      <a16:colId xmlns:a16="http://schemas.microsoft.com/office/drawing/2014/main" val="502120286"/>
                    </a:ext>
                  </a:extLst>
                </a:gridCol>
                <a:gridCol w="2308050">
                  <a:extLst>
                    <a:ext uri="{9D8B030D-6E8A-4147-A177-3AD203B41FA5}">
                      <a16:colId xmlns:a16="http://schemas.microsoft.com/office/drawing/2014/main" val="975695988"/>
                    </a:ext>
                  </a:extLst>
                </a:gridCol>
              </a:tblGrid>
              <a:tr h="5225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Dice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4505296"/>
                  </a:ext>
                </a:extLst>
              </a:tr>
              <a:tr h="6718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Trans U-NET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78.600%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9989946"/>
                  </a:ext>
                </a:extLst>
              </a:tr>
              <a:tr h="5971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U-NET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84.800%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1238059"/>
                  </a:ext>
                </a:extLst>
              </a:tr>
            </a:tbl>
          </a:graphicData>
        </a:graphic>
      </p:graphicFrame>
      <p:sp>
        <p:nvSpPr>
          <p:cNvPr id="13" name="Text Box 19">
            <a:extLst>
              <a:ext uri="{FF2B5EF4-FFF2-40B4-BE49-F238E27FC236}">
                <a16:creationId xmlns:a16="http://schemas.microsoft.com/office/drawing/2014/main" id="{081F6AE8-E32B-0D55-26A0-4EEDD19E0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1970" y="24844140"/>
            <a:ext cx="4667197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/>
              <a:t>Table 2: Results of </a:t>
            </a:r>
            <a:r>
              <a:rPr lang="en-US" altLang="en-US" sz="2400" dirty="0" err="1"/>
              <a:t>Classifiaction</a:t>
            </a:r>
            <a:endParaRPr lang="en-US" alt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FB118E-BC9E-E840-F917-61F441A516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1043" y="22595220"/>
            <a:ext cx="4950461" cy="20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82A50A-8965-F145-76FE-54AD61822B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8" y="28734336"/>
            <a:ext cx="5599825" cy="31110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ECD9C6-E301-FFA3-39DD-7526F5DD523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162" y="28667617"/>
            <a:ext cx="5719920" cy="3177733"/>
          </a:xfrm>
          <a:prstGeom prst="rect">
            <a:avLst/>
          </a:prstGeom>
        </p:spPr>
      </p:pic>
      <p:sp>
        <p:nvSpPr>
          <p:cNvPr id="19" name="Text Box 19">
            <a:extLst>
              <a:ext uri="{FF2B5EF4-FFF2-40B4-BE49-F238E27FC236}">
                <a16:creationId xmlns:a16="http://schemas.microsoft.com/office/drawing/2014/main" id="{AED5D8C9-8549-83AA-DAAE-00D807939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725" y="32100991"/>
            <a:ext cx="7521061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/>
              <a:t>Figure </a:t>
            </a:r>
            <a:r>
              <a:rPr lang="ar-EG" altLang="en-US" sz="2400" dirty="0"/>
              <a:t>2</a:t>
            </a:r>
            <a:r>
              <a:rPr lang="en-US" altLang="en-US" sz="2400" dirty="0"/>
              <a:t>. Comparison between the Related Studies</a:t>
            </a:r>
          </a:p>
        </p:txBody>
      </p:sp>
      <p:sp>
        <p:nvSpPr>
          <p:cNvPr id="20" name="Text Box 36">
            <a:extLst>
              <a:ext uri="{FF2B5EF4-FFF2-40B4-BE49-F238E27FC236}">
                <a16:creationId xmlns:a16="http://schemas.microsoft.com/office/drawing/2014/main" id="{E6249017-81B0-E0E0-3D7A-F49EB3E2C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" y="32768068"/>
            <a:ext cx="11123260" cy="1772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achieved high performance using different deep learning architectures; however, most focused on either segmentation or classification independently. Our proposed framework integrates both tasks into a unified pipeline for more reliable oral cancer grading.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ar-E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BEEA6-BB81-73DB-8C7E-A43D175B42A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4" b="1300"/>
          <a:stretch>
            <a:fillRect/>
          </a:stretch>
        </p:blipFill>
        <p:spPr>
          <a:xfrm>
            <a:off x="18210787" y="11554691"/>
            <a:ext cx="6049387" cy="3073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694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Shulda;www.postersession.com</dc:creator>
  <cp:keywords>www.postersession.com</cp:keywords>
  <dc:description>©MegaPrint Inc. 2009-2015</dc:description>
  <cp:lastModifiedBy>Amira Tharwat</cp:lastModifiedBy>
  <cp:revision>38</cp:revision>
  <dcterms:created xsi:type="dcterms:W3CDTF">2008-12-04T00:20:37Z</dcterms:created>
  <dcterms:modified xsi:type="dcterms:W3CDTF">2026-06-28T22:31:23Z</dcterms:modified>
</cp:coreProperties>
</file>